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Urbanist SemiBold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SemiBold-bold.fntdata"/><Relationship Id="rId12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SemiBold-boldItalic.fntdata"/><Relationship Id="rId14" Type="http://schemas.openxmlformats.org/officeDocument/2006/relationships/font" Target="fonts/UrbanistSemiBold-italic.fntdata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da2f001c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2da2f001c_5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923157"/>
            <a:ext cx="9001125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Smart Parking Analysis &amp;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Prediction</a:t>
            </a:r>
            <a:r>
              <a:rPr b="0" i="0" lang="en-US" sz="54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759398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MVP Presentation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443788" y="4664075"/>
            <a:ext cx="7304400" cy="6771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Eylül Özdemir</a:t>
            </a:r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Kemal Özkan</a:t>
            </a:r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04875" y="2354460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Strategic Planning: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Defined a</a:t>
            </a:r>
            <a:r>
              <a:rPr lang="en-US" sz="1500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14-week timeline, strict budget, and member roles inside our master Excel document.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3497460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Agile Execution: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Transitioned to GitHub Projects to track active Sprints using a professional Kanban board framework.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464046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System Blueprint: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Designed</a:t>
            </a:r>
            <a:r>
              <a:rPr lang="en-US" sz="1500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system logic and data flow using detailed UML diagrams via draw.io.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Management &amp;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Architecture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351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1651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5951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9673" y="1306862"/>
            <a:ext cx="5675000" cy="27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uml diagram.drawio.png"/>
          <p:cNvPicPr preferRelativeResize="0"/>
          <p:nvPr/>
        </p:nvPicPr>
        <p:blipFill rotWithShape="1">
          <a:blip r:embed="rId6">
            <a:alphaModFix/>
          </a:blip>
          <a:srcRect b="60385" l="0" r="0" t="0"/>
          <a:stretch/>
        </p:blipFill>
        <p:spPr>
          <a:xfrm>
            <a:off x="6949300" y="4023626"/>
            <a:ext cx="4905375" cy="2423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6305550" y="2495550"/>
            <a:ext cx="558069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High-Performance Computer Vision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05550" y="3013620"/>
            <a:ext cx="5315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We processed the PKLot dataset, converting COCO JSON annotations into the streamlined YOLO format for training.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05550" y="4118520"/>
            <a:ext cx="5315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The custom-trained </a:t>
            </a:r>
            <a:r>
              <a:rPr b="1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YOLOv8 Nano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model acts as our core inference engine. It is integrated into a</a:t>
            </a:r>
            <a:r>
              <a:rPr lang="en-US" sz="1500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FastAPI backend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and served to end-users via a real-time </a:t>
            </a:r>
            <a:r>
              <a:rPr b="1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Streamlit dashboard</a:t>
            </a: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 with minimal latency.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YOLOv8</a:t>
            </a:r>
            <a:r>
              <a:rPr b="0" i="0" lang="en-US" sz="39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AI Core &amp; Tech Stack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572000" y="2200200"/>
            <a:ext cx="30000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>
                <a:solidFill>
                  <a:srgbClr val="DEFF9A"/>
                </a:solidFill>
                <a:highlight>
                  <a:srgbClr val="0B0C10"/>
                </a:highlight>
                <a:latin typeface="Urbanist"/>
                <a:ea typeface="Urbanist"/>
                <a:cs typeface="Urbanist"/>
                <a:sym typeface="Urbanist"/>
              </a:rPr>
              <a:t>99</a:t>
            </a:r>
            <a:r>
              <a:rPr b="1" lang="en-US" sz="7500">
                <a:solidFill>
                  <a:srgbClr val="DEFF9A"/>
                </a:solidFill>
                <a:highlight>
                  <a:srgbClr val="0B0C10"/>
                </a:highlight>
                <a:latin typeface="Urbanist"/>
                <a:ea typeface="Urbanist"/>
                <a:cs typeface="Urbanist"/>
                <a:sym typeface="Urbanist"/>
              </a:rPr>
              <a:t>%</a:t>
            </a:r>
            <a:endParaRPr b="1" sz="7500">
              <a:solidFill>
                <a:srgbClr val="DEFF9A"/>
              </a:solidFill>
              <a:highlight>
                <a:srgbClr val="0B0C10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AFFDE"/>
                </a:solidFill>
                <a:highlight>
                  <a:srgbClr val="0B0C10"/>
                </a:highlight>
                <a:latin typeface="Urbanist"/>
                <a:ea typeface="Urbanist"/>
                <a:cs typeface="Urbanist"/>
                <a:sym typeface="Urbanist"/>
              </a:rPr>
              <a:t>mAP50 Accuracy</a:t>
            </a:r>
            <a:endParaRPr sz="2100">
              <a:solidFill>
                <a:srgbClr val="DAFFDE"/>
              </a:solidFill>
              <a:highlight>
                <a:srgbClr val="0B0C10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0692"/>
            <a:ext cx="3429000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10692"/>
            <a:ext cx="3429000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210692"/>
            <a:ext cx="3429000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0121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3496567"/>
            <a:ext cx="29803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Automated CI/CD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946028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Configured GitHub Actions pipelines to automatically run syntax validation and structural integrity tests on every single code push, ensuring repository stability.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60121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676775" y="3496567"/>
            <a:ext cx="29803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Privacy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6775" y="3946028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The system only processes geometric coordinates of bounding boxes. No sensitive personal data or raw video footage is permanently stored in our databases.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6775" y="260121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486775" y="3496567"/>
            <a:ext cx="298037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Downgraded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86775" y="3946028"/>
            <a:ext cx="2838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Following our successful training phase yielding 99% accuracy, the primary Detection Accuracy Risk has been officially updated from 'High' to 'Low'.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2512" y="2782192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7750" y="278219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48700" y="278219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Risk, Security &amp;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DevOps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62000" y="362065"/>
            <a:ext cx="530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MVP Demo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1445610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Our core MVP is fully operational. The AI instantly detects empty and occupied spots from fixed-angle camera feeds with minimal latency.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062700" y="1445610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C6C7"/>
                </a:solidFill>
                <a:latin typeface="Urbanist"/>
                <a:ea typeface="Urbanist"/>
                <a:cs typeface="Urbanist"/>
                <a:sym typeface="Urbanist"/>
              </a:rPr>
              <a:t>For the final phase following the midterm, we will shift focus to integrate the centralized database and deploy the predictive data mining module.</a:t>
            </a:r>
            <a:endParaRPr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6686" y="2834175"/>
            <a:ext cx="7518626" cy="35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3445650" y="3128840"/>
            <a:ext cx="5300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That is All For </a:t>
            </a:r>
            <a:r>
              <a:rPr lang="en-US" sz="39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Today</a:t>
            </a:r>
            <a:endParaRPr sz="390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Thank you for your attention!</a:t>
            </a:r>
            <a:endParaRPr sz="1800">
              <a:solidFill>
                <a:srgbClr val="88888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